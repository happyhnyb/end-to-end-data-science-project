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PRESENTATION 1 · PROPOSAL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German House Prices &amp; Rents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ML beat naive baselines at short-term housing forecasting — and how do prices and rents differ?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6177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public data, 2005–2025 (Eurostat / Destatis)  ·  reproducible Python pipeline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25324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206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problem matters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02920" y="123444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metropolitan housing — Berlin, Munich, Frankfurt — ran through a decade-long boom, a 2022 peak, and the first nominal price correction in a generation. Forecasting the next move matters for households, lenders, developers and city planners.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240280"/>
            <a:ext cx="8138160" cy="713232"/>
          </a:xfrm>
          <a:prstGeom prst="roundRect">
            <a:avLst>
              <a:gd name="adj" fmla="val 10256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2386584"/>
            <a:ext cx="420624" cy="420624"/>
          </a:xfrm>
          <a:prstGeom prst="ellipse">
            <a:avLst/>
          </a:prstGeom>
          <a:solidFill>
            <a:srgbClr val="25324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478024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33172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Interest-rate regime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206240" y="233172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 rates inflated prices; the 2022 hiking cycle reversed them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02920" y="3081528"/>
            <a:ext cx="8138160" cy="713232"/>
          </a:xfrm>
          <a:prstGeom prst="roundRect">
            <a:avLst>
              <a:gd name="adj" fmla="val 10256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13232" y="3227832"/>
            <a:ext cx="420624" cy="420624"/>
          </a:xfrm>
          <a:prstGeom prst="ellipse">
            <a:avLst/>
          </a:prstGeom>
          <a:solidFill>
            <a:srgbClr val="25324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31927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17296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demand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206240" y="3172968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In-migration and population growth meet constrained supply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3922776"/>
            <a:ext cx="8138160" cy="713232"/>
          </a:xfrm>
          <a:prstGeom prst="roundRect">
            <a:avLst>
              <a:gd name="adj" fmla="val 10256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13232" y="4069080"/>
            <a:ext cx="420624" cy="420624"/>
          </a:xfrm>
          <a:prstGeom prst="ellipse">
            <a:avLst/>
          </a:prstGeom>
          <a:solidFill>
            <a:srgbClr val="25324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160520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401421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segments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4206240" y="401421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Owner-occupied prices and rents behave very differently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0292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Housing &amp; Rents · Proposal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25324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206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 &amp; targets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02920" y="123444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25324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3258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machine-learning models improve short-term forecasting of German house prices and rents compared with traditional baseline methods?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42316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606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 · House prices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30175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next-quarter return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implied index level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up/down direction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242316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92040" y="2606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 · Rents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92040" y="30175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next-quarter rent return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segment dynamics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MAE, RMSE, MAPE, R-sq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return (not level) makes the random walk a real null hypothesis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25324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206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— official, public, no API key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5074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1691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(Eurostat)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 Price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prc_hpi_q (Destatis)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HICP rents (CP041)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prc_hicp_midx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GDP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namq_10_gdp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Unemployment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Labour 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une_rt_m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Mortgage proxy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irt_lt_mcby_m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Inflation / population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&amp; prices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prc_hicp_midx / demo_gind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806440" y="1234440"/>
            <a:ext cx="2834640" cy="3154680"/>
          </a:xfrm>
          <a:prstGeom prst="roundRect">
            <a:avLst>
              <a:gd name="adj" fmla="val 2581"/>
            </a:avLst>
          </a:prstGeom>
          <a:solidFill>
            <a:srgbClr val="25324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63040"/>
            <a:ext cx="4572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8932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honestly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5989320" y="242316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district-level series are not free or open — they live in commercial micro-data (RWI-GEO-RED, vdpResearch). We model the national series and ship a city-data hook.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0292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Housing &amp; Rents · Proposal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25324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206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models &amp; evaluation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02920" y="128016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8368" y="1399032"/>
            <a:ext cx="329184" cy="329184"/>
          </a:xfrm>
          <a:prstGeom prst="ellipse">
            <a:avLst/>
          </a:prstGeom>
          <a:solidFill>
            <a:srgbClr val="25324B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316736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random walk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0" y="1316736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next quarter = this quarter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1938528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" y="2057400"/>
            <a:ext cx="329184" cy="329184"/>
          </a:xfrm>
          <a:prstGeom prst="ellipse">
            <a:avLst/>
          </a:prstGeom>
          <a:solidFill>
            <a:srgbClr val="25324B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3000" y="1975104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Ridge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00400" y="1975104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linear benchmarks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2596896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8368" y="2715768"/>
            <a:ext cx="329184" cy="329184"/>
          </a:xfrm>
          <a:prstGeom prst="ellipse">
            <a:avLst/>
          </a:prstGeom>
          <a:solidFill>
            <a:srgbClr val="25324B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43000" y="2633472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200400" y="2633472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Non-linear, regularised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02920" y="3255264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8368" y="3374136"/>
            <a:ext cx="329184" cy="329184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3374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43000" y="3291840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200400" y="3291840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on tabular data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02920" y="3913632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58368" y="4032504"/>
            <a:ext cx="329184" cy="329184"/>
          </a:xfrm>
          <a:prstGeom prst="ellipse">
            <a:avLst/>
          </a:prstGeom>
          <a:solidFill>
            <a:srgbClr val="25324B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" y="4032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143000" y="3950208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200400" y="395020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time-series, walk-forward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897880" y="1280160"/>
            <a:ext cx="2743200" cy="3035808"/>
          </a:xfrm>
          <a:prstGeom prst="roundRect">
            <a:avLst>
              <a:gd name="adj" fmla="val 2667"/>
            </a:avLst>
          </a:prstGeom>
          <a:solidFill>
            <a:srgbClr val="25324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508760"/>
            <a:ext cx="457200" cy="4572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08076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decisive test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6080760" y="24688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is judged against the naive random walk on the same scale. Complexity must earn its place.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50292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Housing &amp; Rents · Proposal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3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will deliver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2E7D7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756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2938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pipeline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08760" y="225856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→ features → two-target models, runnable end-to-end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68680" y="2642616"/>
            <a:ext cx="457200" cy="457200"/>
          </a:xfrm>
          <a:prstGeom prst="ellipse">
            <a:avLst/>
          </a:prstGeom>
          <a:solidFill>
            <a:srgbClr val="2E7D7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75234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60604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model comparison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08760" y="293522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models vs the naive baseline, prices and rents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68680" y="3319272"/>
            <a:ext cx="457200" cy="457200"/>
          </a:xfrm>
          <a:prstGeom prst="ellipse">
            <a:avLst/>
          </a:prstGeom>
          <a:solidFill>
            <a:srgbClr val="2E7D7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42900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28269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08760" y="361188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+ SHAP on the price model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68680" y="3995928"/>
            <a:ext cx="457200" cy="457200"/>
          </a:xfrm>
          <a:prstGeom prst="ellipse">
            <a:avLst/>
          </a:prstGeom>
          <a:solidFill>
            <a:srgbClr val="2E7D7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410565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395935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GitHub repo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508760" y="428853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Under-3000-word PDF and complete code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</dc:title>
  <dc:subject>PptxGenJS Presentation</dc:subject>
  <dc:creator>PptxGenJS</dc:creator>
  <cp:lastModifiedBy>PptxGenJS</cp:lastModifiedBy>
  <cp:revision>1</cp:revision>
  <dcterms:created xsi:type="dcterms:W3CDTF">2026-06-25T10:29:31Z</dcterms:created>
  <dcterms:modified xsi:type="dcterms:W3CDTF">2026-06-25T10:29:31Z</dcterms:modified>
</cp:coreProperties>
</file>