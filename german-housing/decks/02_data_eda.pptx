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2 · DATA &amp;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&amp; Exploring the Dataset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official Eurostat series → one clean, leakage-free quarterly panel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supervised quarters · 20 features · 2005Q1 – 2025Q4 (HPI is the binding constraint)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4904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12648" y="21762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quarters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14904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401568" y="21762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3258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4904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144768" y="217627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 series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30449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2005–25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2648" y="373075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window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91840" y="30449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401568" y="373075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test quarters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5040" y="2880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35040" y="30449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44768" y="3730752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gaps after cleaning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43891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German House Price Index begins only in 2005Q1, which sets the sample. The window spans the low-rate boom, COVID, and the 2022–23 rate-shock correction — a demanding test period.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Data &amp; EDA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missing-value treatment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2801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389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quarters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series → quarterly mean; population interpolated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3042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2414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to common window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27249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quarters where every input exists (HPI from 2005)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3284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" y="3438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YoY inflation &amp; growth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3232" y="3749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HICP and population before trimming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73752" y="13898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macro only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873752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prints (population, rates) carried at most one step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23042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73752" y="24140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impute targets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73752" y="27249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and rent series left untouched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3284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73752" y="3438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asserts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873752" y="3749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fails loudly if any target gap remains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Data &amp; EDA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boom &amp; correct; rents drift</a:t>
            </a:r>
            <a:endParaRPr lang="en-US" sz="2500" dirty="0"/>
          </a:p>
        </p:txBody>
      </p:sp>
      <p:pic>
        <p:nvPicPr>
          <p:cNvPr id="5" name="Image 1" descr="/home/claude/german-housing/outputs/figures/fig01_price_vs_r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234440"/>
            <a:ext cx="594360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37960" y="132588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720840" y="1463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720840" y="187452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2010–22 price boom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peak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2022–23 correction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 rise smoothly throughout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 segments, two completely different dynamics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Correlations &amp; valuation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correlation</a:t>
            </a:r>
            <a:endParaRPr lang="en-US" sz="1300" dirty="0"/>
          </a:p>
        </p:txBody>
      </p:sp>
      <p:pic>
        <p:nvPicPr>
          <p:cNvPr id="7" name="Image 1" descr="/home/claude/german-housing/outputs/figures/fig03_correlation_heat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645920"/>
            <a:ext cx="4069080" cy="2697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00600" y="118872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BFC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98348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Price-to-rent ratio</a:t>
            </a:r>
            <a:endParaRPr lang="en-US" sz="1300" dirty="0"/>
          </a:p>
        </p:txBody>
      </p:sp>
      <p:pic>
        <p:nvPicPr>
          <p:cNvPr id="10" name="Image 2" descr="/home/claude/german-housing/outputs/figures/fig04_price_to_ren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92040" y="1783080"/>
            <a:ext cx="3703320" cy="2377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price-to-rent ratio shows the overvaluation build-up and its 2022 unwind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532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206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interest-rate driver</a:t>
            </a:r>
            <a:endParaRPr lang="en-US" sz="2500" dirty="0"/>
          </a:p>
        </p:txBody>
      </p:sp>
      <p:pic>
        <p:nvPicPr>
          <p:cNvPr id="5" name="Image 1" descr="/home/claude/german-housing/outputs/figures/fig05_price_vs_r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1234440"/>
            <a:ext cx="576072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1325880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25324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58368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0" y="1874520"/>
            <a:ext cx="1920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long-term rate fell toward zero, prices boomed. The 2022 rate spike marks the peak and correction — the relationship the models exploit.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4800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Housing &amp; Rents · Data &amp; EDA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watch going into modelling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756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9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585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78 quarters; 20 features invite overfitting — regularise hard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6426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75234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60604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29352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index levels are close to a random walk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3192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4290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826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rents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36118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 rose every quarter — direction is trivial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399592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10565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593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scope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08760" y="428853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dynamics need commercial micro-data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EDA</dc:title>
  <dc:subject>PptxGenJS Presentation</dc:subject>
  <dc:creator>PptxGenJS</dc:creator>
  <cp:lastModifiedBy>PptxGenJS</cp:lastModifiedBy>
  <cp:revision>1</cp:revision>
  <dcterms:created xsi:type="dcterms:W3CDTF">2026-06-25T10:29:31Z</dcterms:created>
  <dcterms:modified xsi:type="dcterms:W3CDTF">2026-06-25T10:29:31Z</dcterms:modified>
</cp:coreProperties>
</file>