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PRESENTATION 3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 &amp; Critical Evaluation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beats the random walk for prices — but the margin is small and the sample tiny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test: 23 quarters, 2020Q1 – 2025Q3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tested &amp; methodology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02920" y="11887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 families per target on a strictly chronological split — train ≤ 2019Q4, test ≥ 2020Q1. No shuffling; ARIMA refit one step at a time.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2290572" cy="438912"/>
          </a:xfrm>
          <a:prstGeom prst="roundRect">
            <a:avLst>
              <a:gd name="adj" fmla="val 50000"/>
            </a:avLst>
          </a:prstGeom>
          <a:solidFill>
            <a:srgbClr val="F1F4F7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828800"/>
            <a:ext cx="22905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random walk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76372" y="1828800"/>
            <a:ext cx="2290572" cy="438912"/>
          </a:xfrm>
          <a:prstGeom prst="roundRect">
            <a:avLst>
              <a:gd name="adj" fmla="val 50000"/>
            </a:avLst>
          </a:prstGeom>
          <a:solidFill>
            <a:srgbClr val="F1F4F7"/>
          </a:solidFill>
          <a:ln/>
        </p:spPr>
      </p:sp>
      <p:sp>
        <p:nvSpPr>
          <p:cNvPr id="9" name="Text 6"/>
          <p:cNvSpPr/>
          <p:nvPr/>
        </p:nvSpPr>
        <p:spPr>
          <a:xfrm>
            <a:off x="2976372" y="1828800"/>
            <a:ext cx="22905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49824" y="1828800"/>
            <a:ext cx="1028700" cy="438912"/>
          </a:xfrm>
          <a:prstGeom prst="roundRect">
            <a:avLst>
              <a:gd name="adj" fmla="val 50000"/>
            </a:avLst>
          </a:prstGeom>
          <a:solidFill>
            <a:srgbClr val="F1F4F7"/>
          </a:solidFill>
          <a:ln/>
        </p:spPr>
      </p:sp>
      <p:sp>
        <p:nvSpPr>
          <p:cNvPr id="11" name="Text 8"/>
          <p:cNvSpPr/>
          <p:nvPr/>
        </p:nvSpPr>
        <p:spPr>
          <a:xfrm>
            <a:off x="5449824" y="1828800"/>
            <a:ext cx="10287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2377440"/>
            <a:ext cx="1869948" cy="438912"/>
          </a:xfrm>
          <a:prstGeom prst="roundRect">
            <a:avLst>
              <a:gd name="adj" fmla="val 50000"/>
            </a:avLst>
          </a:prstGeom>
          <a:solidFill>
            <a:srgbClr val="F1F4F7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2377440"/>
            <a:ext cx="18699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555748" y="2377440"/>
            <a:ext cx="1239012" cy="438912"/>
          </a:xfrm>
          <a:prstGeom prst="roundRect">
            <a:avLst>
              <a:gd name="adj" fmla="val 50000"/>
            </a:avLst>
          </a:prstGeom>
          <a:solidFill>
            <a:srgbClr val="B5651D"/>
          </a:solidFill>
          <a:ln/>
        </p:spPr>
      </p:sp>
      <p:sp>
        <p:nvSpPr>
          <p:cNvPr id="15" name="Text 12"/>
          <p:cNvSpPr/>
          <p:nvPr/>
        </p:nvSpPr>
        <p:spPr>
          <a:xfrm>
            <a:off x="2555748" y="2377440"/>
            <a:ext cx="12390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977640" y="2377440"/>
            <a:ext cx="1028700" cy="438912"/>
          </a:xfrm>
          <a:prstGeom prst="roundRect">
            <a:avLst>
              <a:gd name="adj" fmla="val 50000"/>
            </a:avLst>
          </a:prstGeom>
          <a:solidFill>
            <a:srgbClr val="F1F4F7"/>
          </a:solidFill>
          <a:ln/>
        </p:spPr>
      </p:sp>
      <p:sp>
        <p:nvSpPr>
          <p:cNvPr id="17" name="Text 14"/>
          <p:cNvSpPr/>
          <p:nvPr/>
        </p:nvSpPr>
        <p:spPr>
          <a:xfrm>
            <a:off x="3977640" y="2377440"/>
            <a:ext cx="10287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2971800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04088" y="3063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Quarter-t features only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4088" y="336499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shift forward; rolling windows end at 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63440" y="2971800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64608" y="3063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built last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64608" y="336499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Next-quarter return via shift(-1)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2920" y="3813048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04088" y="39044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04088" y="420624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 shuffling of a time series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63440" y="3813048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864608" y="39044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ARIMA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864608" y="420624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each step; never fit on the future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controls are the backbone of a defensible result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House-price out-of-sample results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188720"/>
                <a:gridCol w="1188720"/>
                <a:gridCol w="914400"/>
                <a:gridCol w="9144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R-sq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4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53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(random walk)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 (walk-forward)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ML/linear model beats the naive random walk</a:t>
            </a:r>
            <a:pPr indent="0" marL="0">
              <a:buNone/>
            </a:pPr>
            <a:r>
              <a:rPr lang="en-US" sz="1250" dirty="0">
                <a:solidFill>
                  <a:srgbClr val="23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interest-rate and labour features let them anticipate the 2022 correction. A real but fragile edge (23 test points).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Housing &amp; Rents · Results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Beating the baseline (this time)</a:t>
            </a:r>
            <a:endParaRPr lang="en-US" sz="2500" dirty="0"/>
          </a:p>
        </p:txBody>
      </p:sp>
      <p:pic>
        <p:nvPicPr>
          <p:cNvPr id="5" name="Image 1" descr="/home/claude/german-housing/outputs/figures/fig07_house_price_ma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280160"/>
            <a:ext cx="576072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46520" y="1371600"/>
            <a:ext cx="2194560" cy="3017520"/>
          </a:xfrm>
          <a:prstGeom prst="roundRect">
            <a:avLst>
              <a:gd name="adj" fmla="val 3333"/>
            </a:avLst>
          </a:prstGeom>
          <a:solidFill>
            <a:srgbClr val="25324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46520" y="1600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2.22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658368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MAE (index pts)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583680" y="278892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19% below the random walk's 2.74. Unusual for asset prices — the rate shock was partly legible.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ARIMA loses to persistence; all ML/linear models beat it here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vs reality (house prices)</a:t>
            </a:r>
            <a:endParaRPr lang="en-US" sz="2500" dirty="0"/>
          </a:p>
        </p:txBody>
      </p:sp>
      <p:pic>
        <p:nvPicPr>
          <p:cNvPr id="5" name="Image 1" descr="/home/claude/german-housing/outputs/figures/fig08_house_price_actual_vs_pr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280160"/>
            <a:ext cx="8138160" cy="3017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43434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tracks the 2022 peak and correction more closely than the naive forecast, which always lags the turn by one quarter — the source of its edge.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Housing &amp; Rents · Results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segments diverge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160520" cy="3200400"/>
          </a:xfrm>
          <a:prstGeom prst="roundRect">
            <a:avLst>
              <a:gd name="adj" fmla="val 2286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Rents: near-deterministic</a:t>
            </a:r>
            <a:endParaRPr lang="en-US" sz="1300" dirty="0"/>
          </a:p>
        </p:txBody>
      </p:sp>
      <p:pic>
        <p:nvPicPr>
          <p:cNvPr id="7" name="Image 1" descr="/home/claude/german-housing/outputs/figures/fig09_rent_actual_vs_pr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783080"/>
            <a:ext cx="3977640" cy="2331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114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Rents rose every quarter → R-sq ≈ 0.997, direction trivial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800600" y="1234440"/>
            <a:ext cx="3886200" cy="3200400"/>
          </a:xfrm>
          <a:prstGeom prst="roundRect">
            <a:avLst>
              <a:gd name="adj" fmla="val 2286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98348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Prices: direction is hard</a:t>
            </a:r>
            <a:endParaRPr lang="en-US" sz="1300" dirty="0"/>
          </a:p>
        </p:txBody>
      </p:sp>
      <p:pic>
        <p:nvPicPr>
          <p:cNvPr id="11" name="Image 2" descr="/home/claude/german-housing/outputs/figures/fig12_confusion_matrix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94960" y="1783080"/>
            <a:ext cx="2697480" cy="22402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46320" y="41148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beats the naive 'always up' (0.70)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that the data supports: prices vs rents behave nothing alike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house prices</a:t>
            </a:r>
            <a:endParaRPr lang="en-US" sz="2500" dirty="0"/>
          </a:p>
        </p:txBody>
      </p:sp>
      <p:pic>
        <p:nvPicPr>
          <p:cNvPr id="5" name="Image 1" descr="/home/claude/german-housing/outputs/figures/fig10_feature_importa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234440"/>
            <a:ext cx="539496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35040" y="132588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25324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217920" y="19202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change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interest rate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price momentum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Long-rate change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Price-to-rent change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and labour-market variables carry most of the signal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EVALUATION &amp; REPORT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result with appropriate humility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31405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(78 q); 20 features overfit-prone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unusual rate-shock test window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only; districts need micro-data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 / transport left as extensions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31405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233172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evaluation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Diebold–Mariano significance test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licensed city panel via the hook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Under-3000-word report, Harvard refs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Results</dc:title>
  <dc:subject>PptxGenJS Presentation</dc:subject>
  <dc:creator>PptxGenJS</dc:creator>
  <cp:lastModifiedBy>PptxGenJS</cp:lastModifiedBy>
  <cp:revision>1</cp:revision>
  <dcterms:created xsi:type="dcterms:W3CDTF">2026-06-25T10:29:31Z</dcterms:created>
  <dcterms:modified xsi:type="dcterms:W3CDTF">2026-06-25T10:29:31Z</dcterms:modified>
</cp:coreProperties>
</file>